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ccdfe06a3cc1534c0d009ac7b5577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097280" cy="987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457200"/>
            <a:ext cx="5486400" cy="73152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4400" b="1">
                <a:solidFill>
                  <a:srgbClr val="FFFFFF"/>
                </a:solidFill>
                <a:latin typeface="Calibri Light"/>
              </a:rPr>
              <a:t>VENDORCAP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280160"/>
            <a:ext cx="6400800" cy="54864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1600" b="0">
                <a:solidFill>
                  <a:srgbClr val="0891B2"/>
                </a:solidFill>
                <a:latin typeface="Calibri Light"/>
              </a:rPr>
              <a:t>Connecting the world's best Chinese sellers to global marketplaces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3657600" cy="36576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2000" b="0">
                <a:solidFill>
                  <a:srgbClr val="94A3B8"/>
                </a:solidFill>
                <a:latin typeface="Calibri"/>
              </a:rPr>
              <a:t>Shenzhen, China</a:t>
            </a:r>
          </a:p>
        </p:txBody>
      </p:sp>
      <p:sp>
        <p:nvSpPr>
          <p:cNvPr id="7" name="Oval 6"/>
          <p:cNvSpPr/>
          <p:nvPr/>
        </p:nvSpPr>
        <p:spPr>
          <a:xfrm>
            <a:off x="6858000" y="1371600"/>
            <a:ext cx="2011680" cy="2011680"/>
          </a:xfrm>
          <a:prstGeom prst="ellipse">
            <a:avLst/>
          </a:prstGeom>
          <a:solidFill>
            <a:srgbClr val="0E7491">
              <a:lumMod val="80000"/>
              <a:lumOff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98079" y="2560320"/>
            <a:ext cx="1280160" cy="1280160"/>
          </a:xfrm>
          <a:prstGeom prst="ellipse">
            <a:avLst/>
          </a:prstGeom>
          <a:solidFill>
            <a:srgbClr val="0891B2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3600" b="1">
                <a:solidFill>
                  <a:srgbClr val="0F172A"/>
                </a:solidFill>
                <a:latin typeface="Calibri Light"/>
              </a:rPr>
              <a:t>THE PROBLEM WE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Marketplaces can't efficiently access China's best sellers from the outside.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8046720" cy="2286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400" b="0">
                <a:solidFill>
                  <a:srgbClr val="94A3B8"/>
                </a:solidFill>
                <a:latin typeface="Calibri"/>
              </a:rPr>
              <a:t>Internal vetting teams process whoever applies — they don't source proactively.</a:t>
            </a:r>
          </a:p>
          <a:p>
            <a:r>
              <a:rPr sz="800" b="0">
                <a:solidFill>
                  <a:srgbClr val="1E293B"/>
                </a:solidFill>
                <a:latin typeface="Calibri"/>
              </a:rPr>
              <a:t/>
            </a:r>
          </a:p>
          <a:p>
            <a:r>
              <a:rPr sz="1400" b="1">
                <a:solidFill>
                  <a:srgbClr val="1E293B"/>
                </a:solidFill>
                <a:latin typeface="Calibri"/>
              </a:rPr>
              <a:t>The result: </a:t>
            </a:r>
            <a:r>
              <a:rPr sz="1400" b="0">
                <a:solidFill>
                  <a:srgbClr val="1E293B"/>
                </a:solidFill>
                <a:latin typeface="Calibri"/>
              </a:rPr>
              <a:t>mixed seller quality, catalog gaps, and missed GMV.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3600" b="1">
                <a:solidFill>
                  <a:srgbClr val="0F172A"/>
                </a:solidFill>
                <a:latin typeface="Calibri Light"/>
              </a:rPr>
              <a:t>WHO WE 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8404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594360" bIns="594360"/>
          <a:lstStyle/>
          <a:p>
            <a:pPr algn="ctr"/>
          </a:p>
          <a:p>
            <a:pPr algn="l"/>
            <a:r>
              <a:rPr sz="1600" b="1">
                <a:solidFill>
                  <a:srgbClr val="0891B2"/>
                </a:solidFill>
                <a:latin typeface="Calibri"/>
              </a:rPr>
              <a:t>Shenzhen-Based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A seller acquisition company operating from the heart of China's manufacturing and e-commerce ecosystem.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371600"/>
            <a:ext cx="38404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594360" bIns="594360"/>
          <a:lstStyle/>
          <a:p>
            <a:pPr algn="ctr"/>
          </a:p>
          <a:p>
            <a:pPr algn="l"/>
            <a:r>
              <a:rPr sz="1600" b="1">
                <a:solidFill>
                  <a:srgbClr val="0891B2"/>
                </a:solidFill>
                <a:latin typeface="Calibri"/>
              </a:rPr>
              <a:t>Expert Leadership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Founded by a former Amazon strategic partnerships manager and McKinsey consultant.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108960"/>
            <a:ext cx="384048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594360" bIns="594360"/>
          <a:lstStyle/>
          <a:p>
            <a:pPr algn="ctr"/>
          </a:p>
          <a:p>
            <a:pPr algn="l"/>
            <a:r>
              <a:rPr sz="1600" b="1">
                <a:solidFill>
                  <a:srgbClr val="0891B2"/>
                </a:solidFill>
                <a:latin typeface="Calibri"/>
              </a:rPr>
              <a:t>15+ Years Experience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Deep operating experience inside China's manufacturing and cross-border e-commerce ecosystem.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3600" b="1">
                <a:solidFill>
                  <a:srgbClr val="0F172A"/>
                </a:solidFill>
                <a:latin typeface="Calibri Light"/>
              </a:rPr>
              <a:t>WHAT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4572000" cy="45720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2400" b="0">
                <a:solidFill>
                  <a:srgbClr val="0891B2"/>
                </a:solidFill>
                <a:latin typeface="Calibri Light"/>
              </a:rPr>
              <a:t>One thing — Seller 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029200" cy="2743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We identify, qualify, and deliver experienced Chinese sellers that match a marketplace's specific category needs.</a:t>
            </a:r>
          </a:p>
          <a:p>
            <a:r>
              <a:rPr sz="800" b="0">
                <a:solidFill>
                  <a:srgbClr val="1E293B"/>
                </a:solidFill>
                <a:latin typeface="Calibri"/>
              </a:rPr>
              <a:t/>
            </a:r>
          </a:p>
          <a:p>
            <a:r>
              <a:rPr sz="1400" b="0">
                <a:solidFill>
                  <a:srgbClr val="1E293B"/>
                </a:solidFill>
                <a:latin typeface="Calibri"/>
              </a:rPr>
              <a:t>We don't do </a:t>
            </a:r>
            <a:r>
              <a:rPr sz="1400" b="1">
                <a:solidFill>
                  <a:srgbClr val="F59E0B"/>
                </a:solidFill>
                <a:latin typeface="Calibri"/>
              </a:rPr>
              <a:t>account management, advertising, or logistics.</a:t>
            </a:r>
            <a:r>
              <a:rPr sz="800" b="0">
                <a:solidFill>
                  <a:srgbClr val="1E293B"/>
                </a:solidFill>
                <a:latin typeface="Calibri"/>
              </a:rPr>
              <a:t/>
            </a:r>
          </a:p>
          <a:p>
            <a:r>
              <a:rPr sz="800" b="0">
                <a:solidFill>
                  <a:srgbClr val="1E293B"/>
                </a:solidFill>
                <a:latin typeface="Calibri"/>
              </a:rPr>
              <a:t/>
            </a:r>
          </a:p>
          <a:p>
            <a:r>
              <a:rPr sz="1500" b="1">
                <a:solidFill>
                  <a:srgbClr val="1E293B"/>
                </a:solidFill>
                <a:latin typeface="Calibri"/>
              </a:rPr>
              <a:t>We find the right sellers and get them to the platform ready to perform.</a:t>
            </a:r>
          </a:p>
        </p:txBody>
      </p:sp>
      <p:pic>
        <p:nvPicPr>
          <p:cNvPr id="5" name="Picture 4" descr="15ba8f68f20b7e30d067a907270afc5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27432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3600" b="1">
                <a:solidFill>
                  <a:srgbClr val="FFFFFF"/>
                </a:solidFill>
                <a:latin typeface="Calibri Light"/>
              </a:rPr>
              <a:t>OUR SELLER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315200" cy="54864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2200" b="0">
                <a:solidFill>
                  <a:srgbClr val="0891B2"/>
                </a:solidFill>
                <a:latin typeface="Calibri Light"/>
              </a:rPr>
              <a:t>10,000+ sellers. Proven, capital-backed, ready.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3840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2194560"/>
            <a:ext cx="457200" cy="4572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148840"/>
            <a:ext cx="2926080" cy="32004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Experienced Operators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14600"/>
            <a:ext cx="2926080" cy="54864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Proven GMV history across multiple platforms and categories.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79" y="2011680"/>
            <a:ext cx="3840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92040" y="2194560"/>
            <a:ext cx="457200" cy="4572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399" y="2148840"/>
            <a:ext cx="2926080" cy="32004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Capital-Backed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399" y="2514600"/>
            <a:ext cx="2926080" cy="54864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Financially solid sellers with the resources to scale.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83280"/>
            <a:ext cx="3840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3566160"/>
            <a:ext cx="457200" cy="4572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520440"/>
            <a:ext cx="2926080" cy="32004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Multi-Platform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886200"/>
            <a:ext cx="2926080" cy="54864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Already selling on Amazon, Shopee, AliExpress, and similar marketplaces.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79" y="3383280"/>
            <a:ext cx="3840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40" y="3566160"/>
            <a:ext cx="457200" cy="4572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399" y="3520440"/>
            <a:ext cx="2926080" cy="32004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Seasoned Professionals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399" y="3886200"/>
            <a:ext cx="2926080" cy="54864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Not newcomers — seasoned cross-border e-commerce operators.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3600" b="1">
                <a:solidFill>
                  <a:srgbClr val="0F172A"/>
                </a:solidFill>
                <a:latin typeface="Calibri Light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1800" b="0">
                <a:solidFill>
                  <a:srgbClr val="94A3B8"/>
                </a:solidFill>
                <a:latin typeface="Calibri Light"/>
              </a:rPr>
              <a:t>Five steps from need to live seller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554480" y="2194560"/>
            <a:ext cx="36576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463040" cy="91440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ctr"/>
            <a:r>
              <a:rPr sz="1100" b="0">
                <a:solidFill>
                  <a:srgbClr val="1E293B"/>
                </a:solidFill>
                <a:latin typeface="Calibri"/>
              </a:rPr>
              <a:t>Marketplace shares
category needs</a:t>
            </a:r>
          </a:p>
        </p:txBody>
      </p:sp>
      <p:sp>
        <p:nvSpPr>
          <p:cNvPr id="7" name="Oval 6"/>
          <p:cNvSpPr/>
          <p:nvPr/>
        </p:nvSpPr>
        <p:spPr>
          <a:xfrm>
            <a:off x="2560320" y="2011680"/>
            <a:ext cx="640080" cy="640080"/>
          </a:xfrm>
          <a:prstGeom prst="ellipse">
            <a:avLst/>
          </a:prstGeom>
          <a:solidFill>
            <a:srgbClr val="0E7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91839" y="2194560"/>
            <a:ext cx="36576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834640"/>
            <a:ext cx="1463040" cy="91440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ctr"/>
            <a:r>
              <a:rPr sz="1100" b="0">
                <a:solidFill>
                  <a:srgbClr val="1E293B"/>
                </a:solidFill>
                <a:latin typeface="Calibri"/>
              </a:rPr>
              <a:t>We search and match
from our network</a:t>
            </a:r>
          </a:p>
        </p:txBody>
      </p:sp>
      <p:sp>
        <p:nvSpPr>
          <p:cNvPr id="10" name="Oval 9"/>
          <p:cNvSpPr/>
          <p:nvPr/>
        </p:nvSpPr>
        <p:spPr>
          <a:xfrm>
            <a:off x="4297680" y="2011680"/>
            <a:ext cx="640080" cy="6400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029200" y="2194560"/>
            <a:ext cx="36576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2834640"/>
            <a:ext cx="1463040" cy="91440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ctr"/>
            <a:r>
              <a:rPr sz="1100" b="0">
                <a:solidFill>
                  <a:srgbClr val="1E293B"/>
                </a:solidFill>
                <a:latin typeface="Calibri"/>
              </a:rPr>
              <a:t>We present a
qualified shortlist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0" y="2011680"/>
            <a:ext cx="640080" cy="640080"/>
          </a:xfrm>
          <a:prstGeom prst="ellipse">
            <a:avLst/>
          </a:prstGeom>
          <a:solidFill>
            <a:srgbClr val="0E7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766559" y="2194560"/>
            <a:ext cx="36576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79" y="2834640"/>
            <a:ext cx="1463040" cy="91440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ctr"/>
            <a:r>
              <a:rPr sz="1100" b="0">
                <a:solidFill>
                  <a:srgbClr val="1E293B"/>
                </a:solidFill>
                <a:latin typeface="Calibri"/>
              </a:rPr>
              <a:t>Marketplace
approves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0" y="2011680"/>
            <a:ext cx="640080" cy="6400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834640"/>
            <a:ext cx="1463040" cy="91440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ctr"/>
            <a:r>
              <a:rPr sz="1100" b="0">
                <a:solidFill>
                  <a:srgbClr val="1E293B"/>
                </a:solidFill>
                <a:latin typeface="Calibri"/>
              </a:rPr>
              <a:t>Sellers onboard
and go 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3600" b="1">
                <a:solidFill>
                  <a:srgbClr val="0F172A"/>
                </a:solidFill>
                <a:latin typeface="Calibri Light"/>
              </a:rPr>
              <a:t>PLATFORMS WE WORK WITH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2000" b="0">
                <a:solidFill>
                  <a:srgbClr val="0891B2"/>
                </a:solidFill>
                <a:latin typeface="Calibri Light"/>
              </a:rPr>
              <a:t>50+ platforms across 6 continents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8404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938528"/>
            <a:ext cx="3291840" cy="36576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ctr"/>
            <a:r>
              <a:rPr sz="1600" b="1">
                <a:solidFill>
                  <a:srgbClr val="1E293B"/>
                </a:solidFill>
                <a:latin typeface="Calibri"/>
              </a:rPr>
              <a:t>Leroy Merlin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79" y="1828800"/>
            <a:ext cx="38404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199" y="1938528"/>
            <a:ext cx="3291840" cy="36576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ctr"/>
            <a:r>
              <a:rPr sz="1600" b="1">
                <a:solidFill>
                  <a:srgbClr val="1E293B"/>
                </a:solidFill>
                <a:latin typeface="Calibri"/>
              </a:rPr>
              <a:t>Cdiscount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38404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761488"/>
            <a:ext cx="3291840" cy="36576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ctr"/>
            <a:r>
              <a:rPr sz="1600" b="1">
                <a:solidFill>
                  <a:srgbClr val="1E293B"/>
                </a:solidFill>
                <a:latin typeface="Calibri"/>
              </a:rPr>
              <a:t>eMAG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79" y="2651760"/>
            <a:ext cx="38404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199" y="2761488"/>
            <a:ext cx="3291840" cy="36576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ctr"/>
            <a:r>
              <a:rPr sz="1600" b="1">
                <a:solidFill>
                  <a:srgbClr val="1E293B"/>
                </a:solidFill>
                <a:latin typeface="Calibri"/>
              </a:rPr>
              <a:t>Takealot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and 46+ more marketplace partners worldwide</a:t>
            </a:r>
          </a:p>
        </p:txBody>
      </p:sp>
      <p:pic>
        <p:nvPicPr>
          <p:cNvPr id="13" name="Picture 12" descr="f9334297e4293adbbcba58804cd3b1b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291840"/>
            <a:ext cx="1645920" cy="1645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3600" b="1">
                <a:solidFill>
                  <a:srgbClr val="FFFFFF"/>
                </a:solidFill>
                <a:latin typeface="Calibri Light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1800" b="0">
                <a:solidFill>
                  <a:srgbClr val="0891B2"/>
                </a:solidFill>
                <a:latin typeface="Calibri Light"/>
              </a:rPr>
              <a:t>Sellers placed by VendorCap have generated over $2B in GMV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7315200" cy="36576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Across partner platforms, over the past two years: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1874519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3200" b="1">
                <a:solidFill>
                  <a:srgbClr val="0891B2"/>
                </a:solidFill>
                <a:latin typeface="Calibri"/>
              </a:rPr>
              <a:t>10,000+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94A3B8"/>
                </a:solidFill>
                <a:latin typeface="Calibri"/>
              </a:rPr>
              <a:t>Verified sellers
in our network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2286000"/>
            <a:ext cx="1874519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3200" b="1">
                <a:solidFill>
                  <a:srgbClr val="0891B2"/>
                </a:solidFill>
                <a:latin typeface="Calibri"/>
              </a:rPr>
              <a:t>50+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94A3B8"/>
                </a:solidFill>
                <a:latin typeface="Calibri"/>
              </a:rPr>
              <a:t>Marketplace
platforms served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286000"/>
            <a:ext cx="1874519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3200" b="1">
                <a:solidFill>
                  <a:srgbClr val="0891B2"/>
                </a:solidFill>
                <a:latin typeface="Calibri"/>
              </a:rPr>
              <a:t>$2B+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94A3B8"/>
                </a:solidFill>
                <a:latin typeface="Calibri"/>
              </a:rPr>
              <a:t>GMV generated
by placed sellers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2286000"/>
            <a:ext cx="1874519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3200" b="1">
                <a:solidFill>
                  <a:srgbClr val="0891B2"/>
                </a:solidFill>
                <a:latin typeface="Calibri"/>
              </a:rPr>
              <a:t>6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94A3B8"/>
                </a:solidFill>
                <a:latin typeface="Calibri"/>
              </a:rPr>
              <a:t>Continents
covered</a:t>
            </a:r>
          </a:p>
        </p:txBody>
      </p:sp>
      <p:pic>
        <p:nvPicPr>
          <p:cNvPr id="9" name="Picture 8" descr="2d717128b04c865d7246be391a4e8da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0"/>
            <a:ext cx="8229600" cy="1371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3600" b="1">
                <a:solidFill>
                  <a:srgbClr val="0F172A"/>
                </a:solidFill>
                <a:latin typeface="Calibri Light"/>
              </a:rPr>
              <a:t>WHY VENDORCAP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2000" b="0">
                <a:solidFill>
                  <a:srgbClr val="0891B2"/>
                </a:solidFill>
                <a:latin typeface="Calibri Light"/>
              </a:rPr>
              <a:t>Pre-qualified beats first-come, first-served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657600" cy="237744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3108960" cy="36576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1700" b="1">
                <a:solidFill>
                  <a:srgbClr val="DC2626"/>
                </a:solidFill>
                <a:latin typeface="Calibri"/>
              </a:rPr>
              <a:t>Open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3108960" cy="1463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0">
                <a:solidFill>
                  <a:srgbClr val="1E293B"/>
                </a:solidFill>
                <a:latin typeface="Calibri"/>
              </a:rPr>
              <a:t>•  Mixed seller quality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•  High internal vetting cost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•  Unpredictable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828800"/>
            <a:ext cx="3657600" cy="2377440"/>
          </a:xfrm>
          <a:prstGeom prst="round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965960"/>
            <a:ext cx="3108960" cy="36576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1700" b="1">
                <a:solidFill>
                  <a:srgbClr val="0891B2"/>
                </a:solidFill>
                <a:latin typeface="Calibri"/>
              </a:rPr>
              <a:t>VendorCap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468880"/>
            <a:ext cx="3108960" cy="1463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0">
                <a:solidFill>
                  <a:srgbClr val="1E293B"/>
                </a:solidFill>
                <a:latin typeface="Calibri"/>
              </a:rPr>
              <a:t>•  Pre-qualified sellers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•  Category-matched to your needs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•  Ready to perform from day 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3600" b="1">
                <a:solidFill>
                  <a:srgbClr val="FFFFFF"/>
                </a:solidFill>
                <a:latin typeface="Calibri Light"/>
              </a:rPr>
              <a:t>COMMERCIAL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2743200" cy="109728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7200" b="1">
                <a:solidFill>
                  <a:srgbClr val="0891B2"/>
                </a:solidFill>
                <a:latin typeface="Calibri Light"/>
              </a:rPr>
              <a:t>1%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3657600" cy="45720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2400" b="0">
                <a:solidFill>
                  <a:srgbClr val="FFFFFF"/>
                </a:solidFill>
                <a:latin typeface="Calibri Light"/>
              </a:rPr>
              <a:t>commission on seller GMV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3657600" cy="45720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2000" b="1">
                <a:solidFill>
                  <a:srgbClr val="F59E0B"/>
                </a:solidFill>
                <a:latin typeface="Calibri Light"/>
              </a:rPr>
              <a:t>Nothing else.</a:t>
            </a:r>
          </a:p>
        </p:txBody>
      </p:sp>
      <p:sp>
        <p:nvSpPr>
          <p:cNvPr id="6" name="Oval 5"/>
          <p:cNvSpPr/>
          <p:nvPr/>
        </p:nvSpPr>
        <p:spPr>
          <a:xfrm>
            <a:off x="5029200" y="1600200"/>
            <a:ext cx="320040" cy="32004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554480"/>
            <a:ext cx="3200400" cy="36576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No retainer</a:t>
            </a:r>
          </a:p>
        </p:txBody>
      </p:sp>
      <p:sp>
        <p:nvSpPr>
          <p:cNvPr id="8" name="Oval 7"/>
          <p:cNvSpPr/>
          <p:nvPr/>
        </p:nvSpPr>
        <p:spPr>
          <a:xfrm>
            <a:off x="5029200" y="2194560"/>
            <a:ext cx="320040" cy="32004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148840"/>
            <a:ext cx="3200400" cy="36576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No setup fee</a:t>
            </a:r>
          </a:p>
        </p:txBody>
      </p:sp>
      <p:sp>
        <p:nvSpPr>
          <p:cNvPr id="10" name="Oval 9"/>
          <p:cNvSpPr/>
          <p:nvPr/>
        </p:nvSpPr>
        <p:spPr>
          <a:xfrm>
            <a:off x="5029200" y="2788920"/>
            <a:ext cx="320040" cy="32004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743200"/>
            <a:ext cx="3200400" cy="36576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No cost until sellers generate revenue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0" y="3383280"/>
            <a:ext cx="320040" cy="32004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337560"/>
            <a:ext cx="3200400" cy="36576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Fully aligned incentives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3600" b="1">
                <a:solidFill>
                  <a:srgbClr val="0F172A"/>
                </a:solidFill>
                <a:latin typeface="Calibri Light"/>
              </a:rPr>
              <a:t>OUR REACH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286000" cy="1188720"/>
          </a:xfrm>
          <a:prstGeom prst="roundRect">
            <a:avLst/>
          </a:prstGeom>
          <a:solidFill>
            <a:srgbClr val="0891B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920240" cy="45720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Europe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371600"/>
            <a:ext cx="22860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0" y="1691640"/>
            <a:ext cx="1920240" cy="45720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ctr"/>
            <a:r>
              <a:rPr sz="2000" b="1">
                <a:solidFill>
                  <a:srgbClr val="1E293B"/>
                </a:solidFill>
                <a:latin typeface="Calibri"/>
              </a:rPr>
              <a:t>Africa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371600"/>
            <a:ext cx="22860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691640"/>
            <a:ext cx="1920240" cy="45720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ctr"/>
            <a:r>
              <a:rPr sz="2000" b="1">
                <a:solidFill>
                  <a:srgbClr val="1E293B"/>
                </a:solidFill>
                <a:latin typeface="Calibri"/>
              </a:rPr>
              <a:t>Middle East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2926080"/>
            <a:ext cx="22860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246120"/>
            <a:ext cx="1920240" cy="45720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ctr"/>
            <a:r>
              <a:rPr sz="2000" b="1">
                <a:solidFill>
                  <a:srgbClr val="1E293B"/>
                </a:solidFill>
                <a:latin typeface="Calibri"/>
              </a:rPr>
              <a:t>Central Asia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926080"/>
            <a:ext cx="2286000" cy="1188720"/>
          </a:xfrm>
          <a:prstGeom prst="roundRect">
            <a:avLst/>
          </a:prstGeom>
          <a:solidFill>
            <a:srgbClr val="0891B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3246120"/>
            <a:ext cx="1920240" cy="45720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Southeast Asia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315200" cy="73152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3600" b="1">
                <a:solidFill>
                  <a:srgbClr val="FFFFFF"/>
                </a:solidFill>
                <a:latin typeface="Calibri Light"/>
              </a:rPr>
              <a:t>VENDORCAP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7315200" cy="54864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/>
            <a:r>
              <a:rPr sz="2800" b="0">
                <a:solidFill>
                  <a:srgbClr val="0891B2"/>
                </a:solidFill>
                <a:latin typeface="Calibri Light"/>
              </a:rPr>
              <a:t>Let's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5486400" cy="2286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Martin Kaufman, Founder</a:t>
            </a:r>
          </a:p>
          <a:p>
            <a:r>
              <a:rPr sz="800" b="0">
                <a:solidFill>
                  <a:srgbClr val="1E293B"/>
                </a:solidFill>
                <a:latin typeface="Calibri"/>
              </a:rPr>
              <a:t/>
            </a:r>
          </a:p>
          <a:p>
            <a:r>
              <a:rPr sz="1600" b="0">
                <a:solidFill>
                  <a:srgbClr val="0891B2"/>
                </a:solidFill>
                <a:latin typeface="Calibri"/>
              </a:rPr>
              <a:t>martin@vendorcap.global</a:t>
            </a:r>
          </a:p>
          <a:p>
            <a:r>
              <a:rPr sz="800" b="0">
                <a:solidFill>
                  <a:srgbClr val="1E293B"/>
                </a:solidFill>
                <a:latin typeface="Calibri"/>
              </a:rPr>
              <a:t/>
            </a:r>
          </a:p>
          <a:p>
            <a:r>
              <a:rPr sz="1400" b="0">
                <a:solidFill>
                  <a:srgbClr val="94A3B8"/>
                </a:solidFill>
                <a:latin typeface="Calibri"/>
              </a:rPr>
              <a:t>vendorcap.global</a:t>
            </a:r>
          </a:p>
          <a:p>
            <a:r>
              <a:rPr sz="800" b="0">
                <a:solidFill>
                  <a:srgbClr val="1E293B"/>
                </a:solidFill>
                <a:latin typeface="Calibri"/>
              </a:rPr>
              <a:t/>
            </a:r>
          </a:p>
          <a:p>
            <a:r>
              <a:rPr sz="1400" b="0">
                <a:solidFill>
                  <a:srgbClr val="94A3B8"/>
                </a:solidFill>
                <a:latin typeface="Calibri"/>
              </a:rPr>
              <a:t>Shenzhen, China</a:t>
            </a:r>
          </a:p>
        </p:txBody>
      </p:sp>
      <p:pic>
        <p:nvPicPr>
          <p:cNvPr id="6" name="Picture 5" descr="bccdfe06a3cc1534c0d009ac7b5577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2194560" cy="19751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